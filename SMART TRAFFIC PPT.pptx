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0" r:id="rId2"/>
  </p:sldMasterIdLst>
  <p:notesMasterIdLst>
    <p:notesMasterId r:id="rId21"/>
  </p:notesMasterIdLst>
  <p:handoutMasterIdLst>
    <p:handoutMasterId r:id="rId22"/>
  </p:handoutMasterIdLst>
  <p:sldIdLst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  <p:sldId id="267" r:id="rId12"/>
    <p:sldId id="275" r:id="rId13"/>
    <p:sldId id="276" r:id="rId14"/>
    <p:sldId id="268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E9D305-B1F9-4450-9F5A-3FB3B07BF5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 panose="020B0502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35" name="Google Shape;1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 panose="020B0502020202020204"/>
              <a:buNone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1</a:t>
            </a:fld>
            <a:endParaRPr lang="en-US" sz="1200" b="0" i="0" u="none">
              <a:solidFill>
                <a:schemeClr val="dk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 panose="020B0502020202020204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2</a:t>
            </a:fld>
            <a:endParaRPr lang="en-US" sz="1200" b="0" i="0" u="none">
              <a:solidFill>
                <a:srgbClr val="0000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 panose="020B0502020202020204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4</a:t>
            </a:fld>
            <a:endParaRPr lang="en-US" sz="1200" b="0" i="0" u="none">
              <a:solidFill>
                <a:srgbClr val="0000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entury Gothic" panose="020B0502020202020204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7</a:t>
            </a:fld>
            <a:endParaRPr lang="en-US" sz="1200" b="0" i="0" u="none">
              <a:solidFill>
                <a:srgbClr val="0000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spcBef>
                <a:spcPts val="575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 rtl="0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2pPr>
            <a:lvl3pPr lvl="2" algn="ctr" rtl="0">
              <a:spcBef>
                <a:spcPts val="375"/>
              </a:spcBef>
              <a:spcAft>
                <a:spcPts val="0"/>
              </a:spcAft>
              <a:buSzPts val="1530"/>
              <a:buNone/>
              <a:defRPr/>
            </a:lvl3pPr>
            <a:lvl4pPr lvl="3" algn="ctr" rtl="0">
              <a:spcBef>
                <a:spcPts val="375"/>
              </a:spcBef>
              <a:spcAft>
                <a:spcPts val="0"/>
              </a:spcAft>
              <a:buSzPts val="1440"/>
              <a:buNone/>
              <a:defRPr/>
            </a:lvl4pPr>
            <a:lvl5pPr lvl="4" algn="ctr" rtl="0">
              <a:spcBef>
                <a:spcPts val="375"/>
              </a:spcBef>
              <a:spcAft>
                <a:spcPts val="0"/>
              </a:spcAft>
              <a:buSzPts val="1800"/>
              <a:buNone/>
              <a:defRPr/>
            </a:lvl5pPr>
            <a:lvl6pPr lvl="5" algn="ctr" rtl="0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 rtl="0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 rtl="0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 rtl="0"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09600" y="1505931"/>
            <a:ext cx="109728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 rtl="0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40" algn="l" rtl="0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 rtl="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1219200" y="274637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30" name="Google Shape;30;p3"/>
          <p:cNvSpPr txBox="1"/>
          <p:nvPr userDrawn="1"/>
        </p:nvSpPr>
        <p:spPr>
          <a:xfrm>
            <a:off x="1346200" y="62992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r>
              <a:rPr lang="en-US"/>
              <a:t>First Review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6578600" y="1447800"/>
            <a:ext cx="499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 rtl="0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40" algn="l" rtl="0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 rtl="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1219200" y="1447800"/>
            <a:ext cx="499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 rtl="0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40" algn="l" rtl="0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 rtl="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219200" y="274637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30" name="Google Shape;30;p3"/>
          <p:cNvSpPr txBox="1"/>
          <p:nvPr userDrawn="1"/>
        </p:nvSpPr>
        <p:spPr>
          <a:xfrm>
            <a:off x="1346200" y="62992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r>
              <a:rPr lang="en-US"/>
              <a:t>First Review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1219200" y="274637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30" name="Google Shape;30;p3"/>
          <p:cNvSpPr txBox="1"/>
          <p:nvPr userDrawn="1"/>
        </p:nvSpPr>
        <p:spPr>
          <a:xfrm>
            <a:off x="1346200" y="62992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r>
              <a:rPr lang="en-US"/>
              <a:t>First Review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 rot="5400000">
            <a:off x="2001800" y="-508059"/>
            <a:ext cx="5851500" cy="74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 rtl="0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40" algn="l" rtl="0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 rtl="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 rot="5400000">
            <a:off x="7254540" y="1859242"/>
            <a:ext cx="5851500" cy="26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30" name="Google Shape;30;p3"/>
          <p:cNvSpPr txBox="1"/>
          <p:nvPr userDrawn="1"/>
        </p:nvSpPr>
        <p:spPr>
          <a:xfrm>
            <a:off x="1346200" y="62992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r>
              <a:rPr lang="en-US"/>
              <a:t>First Review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 rot="5400000">
            <a:off x="4114800" y="-1447800"/>
            <a:ext cx="4572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 rtl="0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40" algn="l" rtl="0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 rtl="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1219200" y="274637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30" name="Google Shape;30;p3"/>
          <p:cNvSpPr txBox="1"/>
          <p:nvPr userDrawn="1"/>
        </p:nvSpPr>
        <p:spPr>
          <a:xfrm>
            <a:off x="1346200" y="62992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r>
              <a:rPr lang="en-US"/>
              <a:t>First Review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6604000" y="2247900"/>
            <a:ext cx="49785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 rtl="0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40" algn="l" rtl="0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 rtl="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6604000" y="1447800"/>
            <a:ext cx="4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575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lvl="1" indent="-228600" algn="l" rtl="0">
              <a:spcBef>
                <a:spcPts val="375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 rtl="0">
              <a:spcBef>
                <a:spcPts val="375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 rtl="0">
              <a:spcBef>
                <a:spcPts val="375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 rtl="0">
              <a:spcBef>
                <a:spcPts val="375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3"/>
          </p:nvPr>
        </p:nvSpPr>
        <p:spPr>
          <a:xfrm>
            <a:off x="1219200" y="2247900"/>
            <a:ext cx="49785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5755" algn="l" rtl="0">
              <a:spcBef>
                <a:spcPts val="575"/>
              </a:spcBef>
              <a:spcAft>
                <a:spcPts val="0"/>
              </a:spcAft>
              <a:buSzPts val="1530"/>
              <a:buChar char="⚫"/>
              <a:defRPr/>
            </a:lvl1pPr>
            <a:lvl2pPr marL="914400" lvl="1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25755" algn="l" rtl="0">
              <a:spcBef>
                <a:spcPts val="375"/>
              </a:spcBef>
              <a:spcAft>
                <a:spcPts val="0"/>
              </a:spcAft>
              <a:buSzPts val="1530"/>
              <a:buChar char="⚫"/>
              <a:defRPr/>
            </a:lvl3pPr>
            <a:lvl4pPr marL="1828800" lvl="3" indent="-320040" algn="l" rtl="0">
              <a:spcBef>
                <a:spcPts val="375"/>
              </a:spcBef>
              <a:spcAft>
                <a:spcPts val="0"/>
              </a:spcAft>
              <a:buSzPts val="1440"/>
              <a:buChar char="⚫"/>
              <a:defRPr/>
            </a:lvl4pPr>
            <a:lvl5pPr marL="2286000" lvl="4" indent="-342900" algn="l" rtl="0"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4"/>
          </p:nvPr>
        </p:nvSpPr>
        <p:spPr>
          <a:xfrm>
            <a:off x="1219200" y="1447800"/>
            <a:ext cx="4978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spcBef>
                <a:spcPts val="575"/>
              </a:spcBef>
              <a:spcAft>
                <a:spcPts val="0"/>
              </a:spcAft>
              <a:buSzPts val="2040"/>
              <a:buNone/>
              <a:defRPr sz="2400" b="1">
                <a:solidFill>
                  <a:schemeClr val="accen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914400" lvl="1" indent="-228600" algn="l" rtl="0">
              <a:spcBef>
                <a:spcPts val="375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 rtl="0">
              <a:spcBef>
                <a:spcPts val="375"/>
              </a:spcBef>
              <a:spcAft>
                <a:spcPts val="0"/>
              </a:spcAft>
              <a:buSzPts val="1530"/>
              <a:buNone/>
              <a:defRPr sz="1800" b="1"/>
            </a:lvl3pPr>
            <a:lvl4pPr marL="1828800" lvl="3" indent="-228600" algn="l" rtl="0">
              <a:spcBef>
                <a:spcPts val="375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 rtl="0">
              <a:spcBef>
                <a:spcPts val="375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30" name="Google Shape;30;p3"/>
          <p:cNvSpPr txBox="1"/>
          <p:nvPr userDrawn="1"/>
        </p:nvSpPr>
        <p:spPr>
          <a:xfrm>
            <a:off x="1346200" y="62992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r>
              <a:rPr lang="en-US"/>
              <a:t>First Review</a:t>
            </a: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7312" y="69850"/>
            <a:ext cx="12017400" cy="6693000"/>
          </a:xfrm>
          <a:prstGeom prst="roundRect">
            <a:avLst>
              <a:gd name="adj" fmla="val 1065"/>
            </a:avLst>
          </a:prstGeom>
          <a:blipFill rotWithShape="1">
            <a:blip r:embed="rId3"/>
            <a:stretch>
              <a:fillRect/>
            </a:stretch>
          </a:blip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7312" y="69850"/>
            <a:ext cx="12017400" cy="6693000"/>
          </a:xfrm>
          <a:prstGeom prst="roundRect">
            <a:avLst>
              <a:gd name="adj" fmla="val 1065"/>
            </a:avLst>
          </a:prstGeom>
          <a:blipFill rotWithShape="1">
            <a:blip r:embed="rId3"/>
            <a:stretch>
              <a:fillRect/>
            </a:stretch>
          </a:blip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84137" y="1449387"/>
            <a:ext cx="12028500" cy="1527300"/>
          </a:xfrm>
          <a:prstGeom prst="rect">
            <a:avLst/>
          </a:prstGeom>
          <a:solidFill>
            <a:srgbClr val="0E58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84137" y="1397000"/>
            <a:ext cx="12028500" cy="120600"/>
          </a:xfrm>
          <a:prstGeom prst="rect">
            <a:avLst/>
          </a:prstGeom>
          <a:solidFill>
            <a:srgbClr val="4A8E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84137" y="2976562"/>
            <a:ext cx="12028500" cy="11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L="914400" marR="0" lvl="1" indent="-358140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L="1371600" marR="0" lvl="2" indent="-336550" algn="l" rtl="0">
              <a:spcBef>
                <a:spcPts val="375"/>
              </a:spcBef>
              <a:spcAft>
                <a:spcPts val="0"/>
              </a:spcAft>
              <a:buClr>
                <a:srgbClr val="B1B8D2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L="1828800" marR="0" lvl="3" indent="-330200" algn="l" rtl="0">
              <a:spcBef>
                <a:spcPts val="375"/>
              </a:spcBef>
              <a:spcAft>
                <a:spcPts val="0"/>
              </a:spcAft>
              <a:buClr>
                <a:srgbClr val="297FD5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L="2286000" marR="0" lvl="4" indent="-355600" algn="l" rtl="0">
              <a:spcBef>
                <a:spcPts val="375"/>
              </a:spcBef>
              <a:spcAft>
                <a:spcPts val="0"/>
              </a:spcAft>
              <a:buClr>
                <a:srgbClr val="297FD5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L="2743200" marR="0" lvl="5" indent="-3429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L="3200400" marR="0" lvl="6" indent="-342900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L="3657600" marR="0" lvl="7" indent="-342900" algn="l" rtl="0">
              <a:spcBef>
                <a:spcPts val="370"/>
              </a:spcBef>
              <a:spcAft>
                <a:spcPts val="0"/>
              </a:spcAft>
              <a:buClr>
                <a:srgbClr val="AFB7D2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L="4114800" marR="0" lvl="8" indent="-342900" algn="l" rtl="0">
              <a:spcBef>
                <a:spcPts val="370"/>
              </a:spcBef>
              <a:spcAft>
                <a:spcPts val="0"/>
              </a:spcAft>
              <a:buClr>
                <a:srgbClr val="B5CBE5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1219200" y="274637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7312" y="69850"/>
            <a:ext cx="12017400" cy="6693000"/>
          </a:xfrm>
          <a:prstGeom prst="roundRect">
            <a:avLst>
              <a:gd name="adj" fmla="val 1065"/>
            </a:avLst>
          </a:prstGeom>
          <a:solidFill>
            <a:schemeClr val="lt1"/>
          </a:solidFill>
          <a:ln w="9525" cap="sq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1219200" y="61722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2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r>
              <a:rPr lang="en-US"/>
              <a:t>First Review</a:t>
            </a:r>
          </a:p>
        </p:txBody>
      </p:sp>
      <p:sp>
        <p:nvSpPr>
          <p:cNvPr id="31" name="Google Shape;31;p3"/>
          <p:cNvSpPr>
            <a:spLocks noGrp="1"/>
          </p:cNvSpPr>
          <p:nvPr>
            <p:ph type="sldNum" idx="12"/>
          </p:nvPr>
        </p:nvSpPr>
        <p:spPr>
          <a:xfrm>
            <a:off x="195262" y="6210300"/>
            <a:ext cx="609600" cy="457200"/>
          </a:xfrm>
          <a:prstGeom prst="ellipse">
            <a:avLst/>
          </a:prstGeom>
          <a:solidFill>
            <a:srgbClr val="0E58C4"/>
          </a:solidFill>
          <a:ln w="9525" cap="flat" cmpd="sng">
            <a:solidFill>
              <a:srgbClr val="0E58C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1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 panose="020B0502020202020204"/>
              <a:buNone/>
              <a:defRPr sz="1400" b="0" i="0" u="none">
                <a:solidFill>
                  <a:schemeClr val="lt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935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1pPr>
            <a:lvl2pPr marL="914400" marR="0" lvl="1" indent="-358140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2pPr>
            <a:lvl3pPr marL="1371600" marR="0" lvl="2" indent="-336550" algn="l" rtl="0">
              <a:spcBef>
                <a:spcPts val="375"/>
              </a:spcBef>
              <a:spcAft>
                <a:spcPts val="0"/>
              </a:spcAft>
              <a:buClr>
                <a:srgbClr val="B1B8D2"/>
              </a:buClr>
              <a:buSzPts val="17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3pPr>
            <a:lvl4pPr marL="1828800" marR="0" lvl="3" indent="-330200" algn="l" rtl="0">
              <a:spcBef>
                <a:spcPts val="375"/>
              </a:spcBef>
              <a:spcAft>
                <a:spcPts val="0"/>
              </a:spcAft>
              <a:buClr>
                <a:srgbClr val="297FD5"/>
              </a:buClr>
              <a:buSzPts val="16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4pPr>
            <a:lvl5pPr marL="2286000" marR="0" lvl="4" indent="-355600" algn="l" rtl="0">
              <a:spcBef>
                <a:spcPts val="375"/>
              </a:spcBef>
              <a:spcAft>
                <a:spcPts val="0"/>
              </a:spcAft>
              <a:buClr>
                <a:srgbClr val="297FD5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5pPr>
            <a:lvl6pPr marL="2743200" marR="0" lvl="5" indent="-342900" algn="l" rtl="0"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6pPr>
            <a:lvl7pPr marL="3200400" marR="0" lvl="6" indent="-342900" algn="l" rtl="0"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7pPr>
            <a:lvl8pPr marL="3657600" marR="0" lvl="7" indent="-342900" algn="l" rtl="0">
              <a:spcBef>
                <a:spcPts val="370"/>
              </a:spcBef>
              <a:spcAft>
                <a:spcPts val="0"/>
              </a:spcAft>
              <a:buClr>
                <a:srgbClr val="AFB7D2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8pPr>
            <a:lvl9pPr marL="4114800" marR="0" lvl="8" indent="-342900" algn="l" rtl="0">
              <a:spcBef>
                <a:spcPts val="370"/>
              </a:spcBef>
              <a:spcAft>
                <a:spcPts val="0"/>
              </a:spcAft>
              <a:buClr>
                <a:srgbClr val="B5CBE5"/>
              </a:buClr>
              <a:buSzPts val="1800"/>
              <a:buFont typeface="Palatino Linotype" panose="02040502050505030304"/>
              <a:buChar char="•"/>
              <a:defRPr sz="1800" b="0" i="0" u="none" strike="noStrike" cap="none">
                <a:solidFill>
                  <a:schemeClr val="dk1"/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sym typeface="Palatino Linotype" panose="02040502050505030304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1219200" y="274637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7" r:id="rId6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subTitle" idx="1"/>
          </p:nvPr>
        </p:nvSpPr>
        <p:spPr>
          <a:xfrm>
            <a:off x="173037" y="3065462"/>
            <a:ext cx="11856900" cy="36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30"/>
              <a:buNone/>
            </a:pPr>
            <a:r>
              <a:rPr lang="en-US" sz="2400" b="1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</a:t>
            </a:r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30"/>
              <a:buNone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1.GOLLA.DEEPIKA(23491A0534)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2.GUDA.HEMA LATHA (23491A0536)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3.GUTHA.SRAVANTHI(23491A0540)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4.MEDAVARAPU.ANJANA CHARY (23491A0546)</a:t>
            </a: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5.NANDIKONDA.KIRAN KUMAR (23491A0549)</a:t>
            </a:r>
            <a:b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200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30"/>
              <a:buNone/>
            </a:pPr>
            <a:endParaRPr lang="en-US" sz="3800" b="1" dirty="0">
              <a:solidFill>
                <a:srgbClr val="00B05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230"/>
              <a:buNone/>
            </a:pPr>
            <a:r>
              <a:rPr lang="en-US" sz="3800" b="1" i="1" u="none" dirty="0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                    </a:t>
            </a:r>
            <a:r>
              <a:rPr lang="en-US" sz="1800" b="1" i="1" u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Assistant professor </a:t>
            </a:r>
          </a:p>
          <a:p>
            <a:pPr marL="0" lvl="0" indent="0" algn="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30"/>
              <a:buNone/>
            </a:pPr>
            <a:r>
              <a:rPr lang="en-US" sz="1800" b="1" i="1" u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BHASKAR  SIR</a:t>
            </a:r>
            <a:endParaRPr sz="1600" b="1" i="0" u="none" dirty="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5"/>
              <a:buNone/>
            </a:pPr>
            <a:endParaRPr sz="3300" b="0" i="0" u="none" dirty="0">
              <a:solidFill>
                <a:schemeClr val="dk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  <a:sym typeface="Helvetica Neue" panose="02000503000000020004"/>
            </a:endParaRPr>
          </a:p>
          <a:p>
            <a:pPr marL="0" lvl="0" indent="0" algn="ctr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2805"/>
              <a:buNone/>
            </a:pPr>
            <a:endParaRPr sz="3300" b="0" i="0" u="none" dirty="0">
              <a:solidFill>
                <a:schemeClr val="dk2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  <a:p>
            <a:pPr marL="0" lvl="0" indent="0" algn="ctr" rtl="0">
              <a:spcBef>
                <a:spcPts val="575"/>
              </a:spcBef>
              <a:spcAft>
                <a:spcPts val="0"/>
              </a:spcAft>
              <a:buSzPts val="2805"/>
              <a:buNone/>
            </a:pPr>
            <a:endParaRPr sz="3300" b="0" i="0" u="none" dirty="0">
              <a:solidFill>
                <a:schemeClr val="dk2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ctrTitle"/>
          </p:nvPr>
        </p:nvSpPr>
        <p:spPr>
          <a:xfrm>
            <a:off x="263525" y="1465262"/>
            <a:ext cx="11998200" cy="16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mes New Roman" panose="02020603050405020304"/>
              <a:buNone/>
            </a:pPr>
            <a:r>
              <a:rPr lang="en-US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TRAFFIC SIGNAL TO OPTIMIZE WITH THE EMERGENCY VECHILE DETECTION</a:t>
            </a:r>
            <a:endParaRPr lang="en-US" sz="2400" b="1" i="0" u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1219200" y="737118"/>
            <a:ext cx="9496500" cy="5416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marL="273050" marR="0" lvl="0" indent="-213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35"/>
              <a:buFont typeface="Noto Sans Symbols"/>
              <a:buNone/>
            </a:pPr>
            <a:endParaRPr sz="1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REVIEW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MOTIVATION</a:t>
            </a:r>
            <a:endParaRPr lang="en-US" sz="29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METHOD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METHOD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&amp; SOFTWARE INVOLVED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 AND APPLICATION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SYSTEM ARCHITECTURE /PROPOSED WORK BLOCK DIAGRAM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UML DIAGRAMS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IMPLEMENTATION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DISSCUSSIONS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 AND FUTURE SCOPE</a:t>
            </a:r>
          </a:p>
          <a:p>
            <a:pPr marL="273050" marR="0" lvl="0" indent="-2730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❑"/>
            </a:pPr>
            <a:r>
              <a:rPr lang="en-US" sz="29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  <a:p>
            <a:pPr marL="273050" marR="0" lvl="0" indent="-175895" algn="l" rtl="0">
              <a:spcBef>
                <a:spcPts val="1375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endParaRPr sz="1800" b="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358775" y="0"/>
            <a:ext cx="11553900" cy="833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40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</a:t>
            </a:r>
          </a:p>
        </p:txBody>
      </p:sp>
      <p:sp>
        <p:nvSpPr>
          <p:cNvPr id="149" name="Google Shape;149;p19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>
            <a:spLocks noGrp="1"/>
          </p:cNvSpPr>
          <p:nvPr>
            <p:ph type="body" idx="1"/>
          </p:nvPr>
        </p:nvSpPr>
        <p:spPr>
          <a:xfrm>
            <a:off x="1763486" y="2276669"/>
            <a:ext cx="8724121" cy="3694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congestion is a major issue in urban areas, causing delays and affecting emergency vehicle movement.</a:t>
            </a:r>
          </a:p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— Smart Traffic Signal Control with Emergency Vehicle Detection — aims to improve traffic management and emergency response. </a:t>
            </a:r>
          </a:p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Infrared (IR) sensors in each lane to detect vehicle presence and traffic density.</a:t>
            </a:r>
          </a:p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microcontroller processes sensor data and controls the traffic lights automatically.</a:t>
            </a:r>
          </a:p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emergency vehicle is detected, that lane gets an immediate green signal to clear the path.</a:t>
            </a:r>
          </a:p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normal conditions, signals operate in a predefined cyclic manner based on vehicle presence.</a:t>
            </a:r>
          </a:p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cost-effective and fully hardware-based solution without AI or image processing.</a:t>
            </a:r>
          </a:p>
          <a:p>
            <a:pPr marL="436880" indent="-285750">
              <a:buSzPts val="2380"/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ensures reduced waiting time, improved traffic flow, and priority passage for emergency vehicles.</a:t>
            </a:r>
          </a:p>
          <a:p>
            <a:pPr marL="273050" marR="0" lvl="0" indent="-121920" algn="l" rtl="0">
              <a:spcBef>
                <a:spcPts val="575"/>
              </a:spcBef>
              <a:spcAft>
                <a:spcPts val="0"/>
              </a:spcAft>
              <a:buClr>
                <a:schemeClr val="accent1"/>
              </a:buClr>
              <a:buSzPts val="2380"/>
              <a:buFont typeface="Noto Sans Symbols"/>
              <a:buNone/>
            </a:pPr>
            <a:endParaRPr lang="en-US" altLang="en-US" sz="1400" b="1" i="0" u="none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1219200" y="996949"/>
            <a:ext cx="10363200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40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</a:p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body" idx="1"/>
          </p:nvPr>
        </p:nvSpPr>
        <p:spPr>
          <a:xfrm>
            <a:off x="1492898" y="1894114"/>
            <a:ext cx="9171992" cy="412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Rapid urbanization has led to a significant increase in the number of vehicles on roads, resulting in heavy traffic congestion.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Conventional traffic signal systems work on fixed time intervals, which often fail to handle dynamic traffic conditions effectively.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Emergency vehicles such as ambulances, fire trucks, and police cars often get delayed in traffic, leading to life-threatening situations.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overcome these challenges, an intelligent traffic control system is needed that can adapt to real-time conditions.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proposed system uses IR sensors to detect the presence of vehicles and Arduino Uno as the central controller to manage signal lights automatically.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When an emergency vehicle is detected, the system instantly gives a green signal to that lane to provide a clear route.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 normal situations, the system follows a cyclic signal pattern ensuring smooth flow for all directions.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This project aims to create a low-cost, hardware-based prototype that demonstrates the concept of smart traffic management without relying on complex AI systems.</a:t>
            </a:r>
            <a:endParaRPr lang="en-US" altLang="en-US" sz="1400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p21"/>
          <p:cNvSpPr txBox="1">
            <a:spLocks noGrp="1"/>
          </p:cNvSpPr>
          <p:nvPr>
            <p:ph type="title"/>
          </p:nvPr>
        </p:nvSpPr>
        <p:spPr>
          <a:xfrm>
            <a:off x="944562" y="838200"/>
            <a:ext cx="10363200" cy="67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000" b="1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lang="en-US" sz="2000" b="1" i="0" u="none" dirty="0">
              <a:solidFill>
                <a:srgbClr val="0E58C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993775" y="176212"/>
            <a:ext cx="103632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00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</a:p>
        </p:txBody>
      </p:sp>
      <p:sp>
        <p:nvSpPr>
          <p:cNvPr id="177" name="Google Shape;177;p22"/>
          <p:cNvSpPr txBox="1"/>
          <p:nvPr/>
        </p:nvSpPr>
        <p:spPr>
          <a:xfrm>
            <a:off x="664210" y="1423086"/>
            <a:ext cx="10863580" cy="543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3050" marR="0" lvl="0" indent="-1758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None/>
            </a:pPr>
            <a:endParaRPr sz="18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78" name="Google Shape;178;p22"/>
          <p:cNvGraphicFramePr/>
          <p:nvPr>
            <p:extLst>
              <p:ext uri="{D42A27DB-BD31-4B8C-83A1-F6EECF244321}">
                <p14:modId xmlns:p14="http://schemas.microsoft.com/office/powerpoint/2010/main" val="753410835"/>
              </p:ext>
            </p:extLst>
          </p:nvPr>
        </p:nvGraphicFramePr>
        <p:xfrm>
          <a:off x="993775" y="1423086"/>
          <a:ext cx="9978975" cy="4797878"/>
        </p:xfrm>
        <a:graphic>
          <a:graphicData uri="http://schemas.openxmlformats.org/drawingml/2006/table">
            <a:tbl>
              <a:tblPr>
                <a:noFill/>
                <a:tableStyleId>{BCE9D305-B1F9-4450-9F5A-3FB3B07BF5B3}</a:tableStyleId>
              </a:tblPr>
              <a:tblGrid>
                <a:gridCol w="634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8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41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Ref. No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&amp; Author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Technique Used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Pros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Cons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64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sv-SE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AI-Based Smart Traffic Signal Control System — Sasikala D., Sakthivel G., Sivachandiran R., Suriyabhuvanesh E. (2025)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CNN + Image Processing; Python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Achieved 1.3% MAPE; adaptive signals reduce congestion; scalable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Requires high-quality video input; computationally intensive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92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AI-Based Traffic Management System — Reddy L. K., Shanthi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Sree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K. (2024)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Microcontroller for signal control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Detects multiple vehicle types; real-time dynamic signal changes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Limited by YOLOv3 accuracy in poor lighting/weather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64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AI-Based Emergency Vehicles Detecting and Traffic Controlling System — Pawar A.,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Sutar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Y. (2024)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CNN + IoT-enabled signals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Reduces emergency response time; adaptable to congestion levels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Needs reliable CCTV coverage; potential network latency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2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AI-Driven Traffic Management System for Emergency Vehicle Prioritization Using YOLO —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Pagare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L.,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Pagrut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K.,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Pahade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L.,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Pahare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S.,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Paigude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P.,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Pakhare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S. (2024)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YOLOv8 + CCTV + Push Bullet alerts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&gt;95% ambulance detection accuracy; signal changes in ~2.5s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High training dataset requirement; may need strong GPU resources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2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Times New Roman" panose="02020603050405020304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9" name="Google Shape;179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body" idx="1"/>
          </p:nvPr>
        </p:nvSpPr>
        <p:spPr>
          <a:xfrm>
            <a:off x="2425959" y="2052735"/>
            <a:ext cx="8220270" cy="367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Increasing traffic congestion in cities causes long waiting times and fuel wastage.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Emergency vehicles like ambulances and fire trucks often get stuck in traffic, risking human lives.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Conventional traffic lights work on fixed timers, ignoring actual traffic conditions.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There is a strong need for a smart and automatic system that can respond to real-time situations.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Developing a system that can detect emergency vehicles and give them priority will help save valuable time.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Using IR sensors and Arduino provides a simple, low-cost way to demonstrate intelligent traffic control.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project encourages the use of automation and embedded systems to solve real-world problems effectively.</a:t>
            </a:r>
            <a:endParaRPr lang="en-US" altLang="en-US" sz="160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397650" y="1026365"/>
            <a:ext cx="11396700" cy="642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000" b="1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MOTIVATION</a:t>
            </a:r>
            <a:endParaRPr lang="en-US" sz="2000" b="1" i="0" u="none" dirty="0">
              <a:solidFill>
                <a:srgbClr val="0E58C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>
            <a:spLocks noGrp="1"/>
          </p:cNvSpPr>
          <p:nvPr>
            <p:ph type="body" idx="1"/>
          </p:nvPr>
        </p:nvSpPr>
        <p:spPr>
          <a:xfrm>
            <a:off x="2407298" y="2239346"/>
            <a:ext cx="8080310" cy="331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design and develop a smart traffic signal control system using hardware components.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detect vehicles on each lane using IR sensors and control traffic signals automatically.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identify emergency vehicles and give them priority clearance by turning the signal green in that lane.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ensure smooth and efficient traffic flow by minimizing unnecessary waiting times.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implement a low-cost prototype using Arduino Uno and basic electronic components.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reduce response time for emergency vehicles, improving road safety.</a:t>
            </a:r>
          </a:p>
          <a:p>
            <a:pPr marL="382905" lvl="0" indent="-28575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demonstrate how automation can enhance existing traffic control systems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altLang="en-US" sz="1800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944562" y="996950"/>
            <a:ext cx="10363200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00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</a:t>
            </a:r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>
            <a:spLocks noGrp="1"/>
          </p:cNvSpPr>
          <p:nvPr>
            <p:ph type="body" idx="1"/>
          </p:nvPr>
        </p:nvSpPr>
        <p:spPr>
          <a:xfrm>
            <a:off x="2043404" y="2341984"/>
            <a:ext cx="8322906" cy="3677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lvl="0" indent="-17589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Most cities use fixed-time traffic signal systems, where each signal changes after a preset duration.</a:t>
            </a:r>
          </a:p>
          <a:p>
            <a:pPr marL="273050" lvl="0" indent="-17589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These systems do not adapt to real-time traffic density or emergencies.</a:t>
            </a:r>
          </a:p>
          <a:p>
            <a:pPr marL="273050" lvl="0" indent="-17589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Traffic lights operate on a loop cycle, even if some lanes are empty.</a:t>
            </a:r>
          </a:p>
          <a:p>
            <a:pPr marL="273050" lvl="0" indent="-17589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Manual control by traffic police is sometimes used during heavy traffic, but it is not efficient or consistent.</a:t>
            </a:r>
          </a:p>
          <a:p>
            <a:pPr marL="273050" lvl="0" indent="-17589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Emergency vehicles like ambulances and fire trucks often get delayed because the system cannot detect or prioritize them.</a:t>
            </a:r>
          </a:p>
          <a:p>
            <a:pPr marL="273050" lvl="0" indent="-17589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Some advanced systems use cameras and AI-based monitoring, but they are expensive and complex to implement.</a:t>
            </a:r>
          </a:p>
          <a:p>
            <a:pPr marL="273050" lvl="0" indent="-175895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methods therefore result in wasted time, fuel consumption, and delayed emergency responses.</a:t>
            </a:r>
            <a:endParaRPr lang="en-US" altLang="en-US" sz="1600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0" name="Google Shape;220;p26"/>
          <p:cNvSpPr txBox="1">
            <a:spLocks noGrp="1"/>
          </p:cNvSpPr>
          <p:nvPr>
            <p:ph type="title"/>
          </p:nvPr>
        </p:nvSpPr>
        <p:spPr>
          <a:xfrm>
            <a:off x="1219200" y="996950"/>
            <a:ext cx="10363200" cy="96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3600"/>
              <a:buFont typeface="Times New Roman" panose="02020603050405020304"/>
              <a:buNone/>
            </a:pPr>
            <a:r>
              <a:rPr lang="en-US" sz="200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METHOD</a:t>
            </a:r>
            <a:br>
              <a:rPr lang="en-US" sz="200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000" b="1" i="0" u="none" dirty="0">
              <a:solidFill>
                <a:srgbClr val="0E58C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>
            <a:spLocks noGrp="1"/>
          </p:cNvSpPr>
          <p:nvPr>
            <p:ph type="body" idx="1"/>
          </p:nvPr>
        </p:nvSpPr>
        <p:spPr>
          <a:xfrm>
            <a:off x="1828799" y="2108717"/>
            <a:ext cx="8593495" cy="339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proposed system aims to make the traffic control process automatic and intelligent using hardware components.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Infrared (IR) sensors are placed on each lane to detect the presence and density of vehicles.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 Arduino Uno microcontroller acts as the brain of the system, processing the signals received from the sensors.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When an emergency vehicle is detected through a dedicated IR sensor signal, the controller immediately turns the green light ON for that lane.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 no emergency vehicle is detected, the system operates in a normal cyclic pattern to manage regular traffic flow.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signal time can be adjusted based on the number of vehicles detected in each lane.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use of LED traffic lights and simple sensors makes the system cost-effective and easy to implement.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method ensures faster clearance for emergency vehicles, less congestion, and improved traffic efficiency.</a:t>
            </a:r>
          </a:p>
          <a:p>
            <a:pPr marL="426085" lvl="0" indent="-285750">
              <a:spcBef>
                <a:spcPts val="0"/>
              </a:spcBef>
              <a:buSzPts val="2210"/>
              <a:buFont typeface="Wingdings" panose="05000000000000000000" pitchFamily="2" charset="2"/>
              <a:buChar char="Ø"/>
            </a:pPr>
            <a:r>
              <a:rPr lang="en-US" altLang="en-US"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prototype demonstrates a real-time, automated traffic signal control system without the need for complex AI or camera-based detection.</a:t>
            </a:r>
            <a:endParaRPr lang="en-US" altLang="en-US" sz="1400" i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Palatino Linotype" panose="02040502050505030304"/>
            </a:endParaRPr>
          </a:p>
        </p:txBody>
      </p:sp>
      <p:sp>
        <p:nvSpPr>
          <p:cNvPr id="229" name="Google Shape;229;p27"/>
          <p:cNvSpPr txBox="1">
            <a:spLocks noGrp="1"/>
          </p:cNvSpPr>
          <p:nvPr>
            <p:ph type="title"/>
          </p:nvPr>
        </p:nvSpPr>
        <p:spPr>
          <a:xfrm>
            <a:off x="804862" y="838200"/>
            <a:ext cx="10363200" cy="6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00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METHOD</a:t>
            </a:r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7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52">
            <a:extLst>
              <a:ext uri="{FF2B5EF4-FFF2-40B4-BE49-F238E27FC236}">
                <a16:creationId xmlns:a16="http://schemas.microsoft.com/office/drawing/2014/main" id="{2D40AEA6-CFF6-8396-1E57-3C133A828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74441"/>
            <a:ext cx="10363200" cy="64319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BLOCK DIAGRAM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FFD1A54-C55D-77BE-0BEF-DAE0374DB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1800807"/>
            <a:ext cx="8401050" cy="40961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731321-11FB-110B-60BF-5F3BAD65C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29" y="115849"/>
            <a:ext cx="981541" cy="84132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5425A9-5D31-0B3E-06C0-7C08284C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498" y="1875453"/>
            <a:ext cx="5684560" cy="41148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EA5382-C762-F83D-E9C9-908A852B2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763486"/>
            <a:ext cx="10363200" cy="4441370"/>
          </a:xfrm>
        </p:spPr>
        <p:txBody>
          <a:bodyPr/>
          <a:lstStyle/>
          <a:p>
            <a:pPr marL="131445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333081-9D8E-2A47-146D-6125F7C9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AF57F3-3F6D-53E9-EBE3-6A4E9A84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29" y="143841"/>
            <a:ext cx="981541" cy="8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63147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C7C05F-C1AD-7C9D-ABBD-27A46887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3952" y="1417637"/>
            <a:ext cx="5856514" cy="5232918"/>
          </a:xfrm>
        </p:spPr>
        <p:txBody>
          <a:bodyPr/>
          <a:lstStyle/>
          <a:p>
            <a:pPr marL="131445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(red2, HIGH);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(yellow2,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(green2, LOW);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(red3, HIGH);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(yellow3,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(green3, LOW);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(red4, HIGH);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(yellow4,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(green4, LOW);}// Function: Give Emergency Vehicle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Priorityvoid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givePriority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road) {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allRed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stop all others  if (road == 1)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(red1,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(green1, HIGH);  } else if (road == 2)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(red2,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(green2, HIGH);  } else if (road == 3)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(red3,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(green3, HIGH);  } else if (road == 4)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(red4,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(green4, HIGH);  }  delay(7000); // Keep green for emergency vehicle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allRed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();}// Function: Normal Traffic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Cyclevoid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normalTrafficCycle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 // Road 1 Green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(red1,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(green1, HIGH);  delay(4000);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(green1,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(yellow1, HIGH); delay(2000);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(yellow1,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(red1, HIGH);  // Road 2 Green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(red2,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(green2, HIGH);  delay(4000);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(green2,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(yellow2, HIGH); delay(2000);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(yellow2,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(red2, HIGH);  // Road 3 Green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(red3,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(green3, HIGH);  delay(4000);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(green3,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(yellow3, HIGH); delay(2000);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(yellow3,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(red3, HIGH);  // Road 4 Green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(red4,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(green4, HIGH);  delay(4000);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(green4,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(yellow4, HIGH); delay(2000);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(yellow4,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(red4, HIGH);}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099A8-F071-CF0C-B65B-D32876C0E7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9486" y="1417637"/>
            <a:ext cx="5856514" cy="5011155"/>
          </a:xfrm>
        </p:spPr>
        <p:txBody>
          <a:bodyPr/>
          <a:lstStyle/>
          <a:p>
            <a:pPr marL="131445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Smart Traffic Signal Optimized with Emergency Vehicle Detection// Define LED pins for 4 directions (Red, Yellow, Green)int red1 = 2, yellow1 = 3, green1 = 4;int red2 = 5, yellow2 = 6, green2 = 7;int red3 = 8, yellow3 = 9, green3 = 10;int red4 = 11, yellow4 = 12, green4 = 13;// Emergency Vehicle Sensors (IR / RF)int emergencySensor1 = A0;int emergencySensor2 = A1;int emergencySensor3 = A2;int emergencySensor4 = A3;void setup() {  // Set LEDs as outputs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(red1,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(yellow1,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(green1, OUTPUT);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(red2,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(yellow2,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(green2, OUTPUT);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(red3,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(yellow3,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(green3, OUTPUT);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(red4,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(yellow4, OUTPUT);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(green4, OUTPUT);  // Sensors as input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(emergencySensor1, INPUT);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(emergencySensor2, INPUT);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(emergencySensor3, INPUT);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(emergencySensor4, INPUT);</a:t>
            </a:r>
          </a:p>
          <a:p>
            <a:pPr marL="131445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Start with default state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allRed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();}void loop() {  // Check for emergency vehicles  if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(emergencySensor1) == HIGH)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givePriority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  } else if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(emergencySensor2) == HIGH)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givePriority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(2);  } else if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(emergencySensor3) == HIGH)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givePriority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(3);  }</a:t>
            </a:r>
          </a:p>
          <a:p>
            <a:pPr marL="131445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 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(emergencySensor4) == HIGH) {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givePriority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(4);  } else {    // Normal Traffic Cycle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normalTrafficCycle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}}// Function: Turn all signals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REDvoid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allRed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(red1, HIGH);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(yellow1, LOW);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(green1, LOW);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083B0C-45B3-3BFC-2CF9-40862AB2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4257B3-F850-D246-B551-F3CF5630481D}"/>
              </a:ext>
            </a:extLst>
          </p:cNvPr>
          <p:cNvCxnSpPr>
            <a:cxnSpLocks/>
          </p:cNvCxnSpPr>
          <p:nvPr/>
        </p:nvCxnSpPr>
        <p:spPr>
          <a:xfrm flipH="1">
            <a:off x="6096000" y="1567543"/>
            <a:ext cx="71535" cy="50012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B8E189D-1B1C-E944-6BA5-03261D641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925" y="124731"/>
            <a:ext cx="981541" cy="8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31934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1219200" y="337820"/>
            <a:ext cx="10363200" cy="10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3600"/>
              <a:buFont typeface="Times New Roman" panose="02020603050405020304"/>
              <a:buNone/>
            </a:pPr>
            <a:r>
              <a:rPr lang="en-US" sz="222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AND SOFTWARE COMPONENTS</a:t>
            </a:r>
          </a:p>
        </p:txBody>
      </p:sp>
      <p:sp>
        <p:nvSpPr>
          <p:cNvPr id="251" name="Google Shape;251;p29"/>
          <p:cNvSpPr txBox="1"/>
          <p:nvPr/>
        </p:nvSpPr>
        <p:spPr>
          <a:xfrm>
            <a:off x="1352939" y="155039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82905" lvl="0" indent="-285750">
              <a:buClr>
                <a:schemeClr val="accent1"/>
              </a:buClr>
              <a:buSzPts val="1530"/>
              <a:buFont typeface="Courier New" panose="02070309020205020404" pitchFamily="49" charset="0"/>
              <a:buChar char="o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Components: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Arduino UNO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acts as the main controller that processes input from sensors and controls traffic lights.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IR Sensors (4 units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 – placed on each lane to detect the presence of vehicles and identify emergency vehicle approach.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LEDs (Red, Yellow, Green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 – represent traffic lights for each lane.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Resistors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used to limit current and protect the LEDs and sensors.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Jumper Wires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for interconnections between sensors, LEDs, and the Arduino board.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Breadboard / PCB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used for circuit assembly and testing.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Power Supply (5 V / USB) –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operating voltage to the Arduino and other components.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Components: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Arduino IDE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used to write, compile, and upload code to the Arduino board.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Embedded C / C++ Language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programming language used for controlling the hardware components.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Proteus / </a:t>
            </a: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Tinkercad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(optional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) – for circuit simulation and testing before hardware implementation.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Serial Monitor (Arduino IDE)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– to observe sensor data and debug the system.</a:t>
            </a: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52" name="Google Shape;252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>
            <a:spLocks noGrp="1"/>
          </p:cNvSpPr>
          <p:nvPr>
            <p:ph type="title"/>
          </p:nvPr>
        </p:nvSpPr>
        <p:spPr>
          <a:xfrm>
            <a:off x="1219200" y="144145"/>
            <a:ext cx="10363200" cy="127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3600"/>
              <a:buFont typeface="Times New Roman" panose="02020603050405020304"/>
              <a:buNone/>
            </a:pP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6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400" b="0" i="0" u="none" dirty="0" err="1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</a:t>
            </a:r>
            <a: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40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222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220" b="0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 AND APPLICATIONS</a:t>
            </a:r>
          </a:p>
        </p:txBody>
      </p:sp>
      <p:sp>
        <p:nvSpPr>
          <p:cNvPr id="271" name="Google Shape;271;p31"/>
          <p:cNvSpPr txBox="1"/>
          <p:nvPr/>
        </p:nvSpPr>
        <p:spPr>
          <a:xfrm>
            <a:off x="1371600" y="1600200"/>
            <a:ext cx="10363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endParaRPr lang="en-US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endParaRPr lang="en-US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715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ADVANTAGES:</a:t>
            </a:r>
            <a:endParaRPr lang="en-US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Automatic Control: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system automatically detects emergency vehicles and adjusts traffic lights accordingly.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Faster Emergency Response: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immediate green light for ambulances, fire trucks, etc., reducing travel time.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Efficient Traffic Flow: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Minimizes congestion and waiting time for other vehicles.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Low Cost &amp; Easy Implementation: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Uses affordable sensors and microcontroller-based design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Energy Efficient: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LEDs and smart control logic reduce unnecessary power consumption.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Scalable &amp; Upgradable: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Can be integrated with IoT or wireless modules in future enhancements.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endParaRPr 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7155" lvl="0">
              <a:buClr>
                <a:schemeClr val="accent1"/>
              </a:buClr>
              <a:buSzPts val="1530"/>
            </a:pPr>
            <a:endParaRPr lang="en-US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7155" lvl="0">
              <a:buClr>
                <a:schemeClr val="accent1"/>
              </a:buClr>
              <a:buSzPts val="1530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APPLICATIONS: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endParaRPr 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Urban Traffic Management Systems: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 real-time smart traffic control at major intersections.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Hospitals &amp; Emergency Routes: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Ensures quick passage of ambulances and other emergency services.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Police and Fire Department Vehicles: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Helps priority vehicles reach destinations faster.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Educational Demonstrations: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Useful for learning automation, sensors, and IoT integration concepts.</a:t>
            </a:r>
          </a:p>
          <a:p>
            <a:pPr marL="382905" lvl="0" indent="-285750">
              <a:buClr>
                <a:schemeClr val="accent1"/>
              </a:buClr>
              <a:buSzPts val="153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City Projects: </a:t>
            </a:r>
            <a:r>
              <a:rPr 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Forms a building block for intelligent transport infrastructure.</a:t>
            </a:r>
            <a:endParaRPr 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2" name="Google Shape;272;p3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1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title"/>
          </p:nvPr>
        </p:nvSpPr>
        <p:spPr>
          <a:xfrm>
            <a:off x="1219200" y="274637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000" b="1" i="0" u="none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Application &amp; Advantages</a:t>
            </a:r>
          </a:p>
        </p:txBody>
      </p:sp>
      <p:sp>
        <p:nvSpPr>
          <p:cNvPr id="281" name="Google Shape;281;p32"/>
          <p:cNvSpPr txBox="1"/>
          <p:nvPr/>
        </p:nvSpPr>
        <p:spPr>
          <a:xfrm>
            <a:off x="1371600" y="160020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9715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</a:pPr>
            <a:r>
              <a:rPr lang="en-US" altLang="en-US" b="1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Applications:</a:t>
            </a:r>
          </a:p>
          <a:p>
            <a:pPr marL="9715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</a:pPr>
            <a:endParaRPr lang="en-US" altLang="en-US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r>
              <a:rPr lang="en-US" altLang="en-US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Emergency Vehicle Priority  Provides a clear path for ambulances, fire trucks, and police vehicles at intersections.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r>
              <a:rPr lang="en-US" altLang="en-US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City Traffic Management Can be integrated into intelligent traffic systems for modern smart cities.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r>
              <a:rPr lang="en-US" altLang="en-US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Hospitals and Emergency Zones Ensures quick clearance of traffic near hospitals and emergency care units.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r>
              <a:rPr lang="en-US" altLang="en-US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High-Density Urban Areas Reduces delays for emergency vehicles in crowded city traffic . 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r>
              <a:rPr lang="en-US" altLang="en-US" i="0" u="none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Integration with IoT Can be extended to create green corridors by linking multiple junctions.</a:t>
            </a:r>
          </a:p>
          <a:p>
            <a:pPr marL="9715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715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Advantages:</a:t>
            </a:r>
          </a:p>
          <a:p>
            <a:pPr marL="9715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</a:pPr>
            <a:endParaRPr lang="en-US" altLang="en-US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Emergency Vehicle Priority.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Provides a clear path for ambulances, fire trucks, and police vehicles at intersections.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Smart City Traffic Management Can be integrated into intelligent traffic systems for modern smart cities.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Hospitals and Emergency Zones Ensures quick clearance of traffic near hospitals and emergency care units.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High-Density Urban Areas Reduces delays for emergency vehicles in crowded city traffic.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Integration with IoT Can be extended to create green corridors by linking multiple junctions.</a:t>
            </a: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endParaRPr lang="en-US" altLang="en-US" b="1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82905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Arial" panose="020B0604020202020204" pitchFamily="34" charset="0"/>
              <a:buChar char="•"/>
            </a:pPr>
            <a:endParaRPr lang="en-US" altLang="en-US" i="0" u="none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966787" y="64008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  <p:pic>
        <p:nvPicPr>
          <p:cNvPr id="283" name="Google Shape;283;p3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>
            <a:spLocks noGrp="1"/>
          </p:cNvSpPr>
          <p:nvPr>
            <p:ph type="body" idx="1"/>
          </p:nvPr>
        </p:nvSpPr>
        <p:spPr>
          <a:xfrm>
            <a:off x="755779" y="1894114"/>
            <a:ext cx="10487609" cy="414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10000"/>
              </a:lnSpc>
              <a:spcBef>
                <a:spcPts val="0"/>
              </a:spcBef>
              <a:buSzPts val="1445"/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Results: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controlled four traffic lanes using Arduino-based signal control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an IR sensor detected an emergency vehicle, the corresponding lane’s green light was immediately activated, while all other directions turned red.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returned to normal traffic cycle automatically after the emergency vehicle passed.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time for switching lights was found to be very quick (less than one second after detection).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with a remote-controlled emergency signal confirmed reliable detection in all four directions.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circuit consumed very low power, proving suitable for continuous operation.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endParaRPr lang="en-US" altLang="en-US" sz="1400" i="0" u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alatino Linotype" panose="02040502050505030304"/>
            </a:endParaRP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results validate that the system can effectively prioritize emergency vehicles without human intervention.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design shows how multiple IR sensors can be used to monitor each road and synchronize with traffic lights.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setup demonstrates high reliability for prototype-level deployment and can be scaled up for real intersections using wireless or camera-based detection.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800" b="1" dirty="0">
                <a:solidFill>
                  <a:schemeClr val="tx1"/>
                </a:solidFill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eliminating manual operation, the project enhances both traffic management efficiency and public safety.</a:t>
            </a: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approach proves that low-cost microcontroller systems (like Arduino) can perform real-time intelligent control with minimal </a:t>
            </a:r>
            <a:r>
              <a:rPr lang="en-US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</a:t>
            </a:r>
            <a:endParaRPr lang="en-US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0000"/>
              </a:lnSpc>
              <a:spcBef>
                <a:spcPts val="0"/>
              </a:spcBef>
              <a:buSzPts val="1445"/>
              <a:buFont typeface="Wingdings" panose="05000000000000000000" pitchFamily="2" charset="2"/>
              <a:buChar char="Ø"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may include integrating IoT modules, GPS data, or sound sensors for advanced detection and cloud monitoring.</a:t>
            </a:r>
            <a:endParaRPr lang="en-US" altLang="en-US" sz="1400" i="0" u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alatino Linotype" panose="02040502050505030304"/>
            </a:endParaRPr>
          </a:p>
        </p:txBody>
      </p:sp>
      <p:sp>
        <p:nvSpPr>
          <p:cNvPr id="291" name="Google Shape;291;p33"/>
          <p:cNvSpPr txBox="1">
            <a:spLocks noGrp="1"/>
          </p:cNvSpPr>
          <p:nvPr>
            <p:ph type="title"/>
          </p:nvPr>
        </p:nvSpPr>
        <p:spPr>
          <a:xfrm>
            <a:off x="-298450" y="285115"/>
            <a:ext cx="12211050" cy="1141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2000" b="1" dirty="0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DISCUSSIONS</a:t>
            </a:r>
            <a:endParaRPr lang="en-US" sz="2000" b="1" i="0" u="none" dirty="0">
              <a:solidFill>
                <a:srgbClr val="0E58C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193675" y="996950"/>
            <a:ext cx="10968990" cy="5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 panose="020B0604020202020204"/>
              <a:buNone/>
            </a:pPr>
            <a:endParaRPr sz="1400" b="0" i="1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 Linotype" panose="02040502050505030304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93" name="Google Shape;293;p3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864215" y="99695"/>
            <a:ext cx="1036955" cy="897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E8DBD4-155E-C4AA-3818-A527DAD39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1530219"/>
            <a:ext cx="10363200" cy="4795935"/>
          </a:xfrm>
        </p:spPr>
        <p:txBody>
          <a:bodyPr/>
          <a:lstStyle/>
          <a:p>
            <a:pPr marL="131445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demonstrates an Arduino-based intelligent traffic control system capable of prioritizing emergency vehicles in real time.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four IR sensors effectively monitored all lanes, allowing the system to instantly switch signals for emergency vehicles while maintaining normal traffic flow once the emergency passed.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quick response time (less than one second) and low power consumption confirm that the system is efficient, reliable, and suitable for continuous operation.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prototype validates that low-cost microcontroller-based solutions can significantly enhance traffic management, reduce human dependency, and improve public safety in urban environments.</a:t>
            </a:r>
          </a:p>
          <a:p>
            <a:pPr marL="131445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Integration: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the system to the cloud can allow remote monitoring and centralized traffic management.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Detection Methods: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GPS-based vehicle tracking, sound sensors, or camera-based image recognition can enhance emergency vehicle detection.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Scalability: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expanded to handle multiple intersections and synchronized traffic corridors.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Traffic Control: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can be implemented to optimize signal timing dynamically based on real-time traffic density.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Efficiency: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solar-powered traffic lights can make the system more sustainable.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Safety Enhancements: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Alerts can be sent to nearby vehicles or traffic apps when an emergency vehicle is approaching.	</a:t>
            </a:r>
          </a:p>
          <a:p>
            <a:pPr marL="131445" indent="0">
              <a:buNone/>
            </a:pP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FF8FD5-10B9-4536-8F14-EE43E29F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CONCLUSION AND FUTURE SCOPE</a:t>
            </a:r>
            <a:endParaRPr lang="en-IN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3983FF-7EBA-F787-7191-E1B656B8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29" y="111185"/>
            <a:ext cx="981541" cy="8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8437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>
            <a:spLocks noGrp="1"/>
          </p:cNvSpPr>
          <p:nvPr>
            <p:ph type="title"/>
          </p:nvPr>
        </p:nvSpPr>
        <p:spPr>
          <a:xfrm>
            <a:off x="1774825" y="2708275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58C4"/>
              </a:buClr>
              <a:buSzPts val="4000"/>
              <a:buFont typeface="Times New Roman" panose="02020603050405020304"/>
              <a:buNone/>
            </a:pPr>
            <a:r>
              <a:rPr lang="en-US" sz="4000" b="0" i="0" u="none">
                <a:solidFill>
                  <a:srgbClr val="0E58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</a:p>
        </p:txBody>
      </p:sp>
      <p:pic>
        <p:nvPicPr>
          <p:cNvPr id="302" name="Google Shape;302;p3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920412" y="158750"/>
            <a:ext cx="9810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4"/>
          <p:cNvSpPr txBox="1"/>
          <p:nvPr/>
        </p:nvSpPr>
        <p:spPr>
          <a:xfrm>
            <a:off x="1603375" y="5486400"/>
            <a:ext cx="528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Palatino Linotype" panose="02040502050505030304"/>
              <a:ea typeface="Palatino Linotype" panose="02040502050505030304"/>
              <a:cs typeface="Palatino Linotype" panose="02040502050505030304"/>
              <a:sym typeface="Palatino Linotype" panose="02040502050505030304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Quarterly earnings presentation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Quarterly earnings presentation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2941</Words>
  <Application>Microsoft Office PowerPoint</Application>
  <PresentationFormat>Widescreen</PresentationFormat>
  <Paragraphs>207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Century Gothic</vt:lpstr>
      <vt:lpstr>Courier New</vt:lpstr>
      <vt:lpstr>Helvetica Neue</vt:lpstr>
      <vt:lpstr>Noto Sans Symbols</vt:lpstr>
      <vt:lpstr>Palatino Linotype</vt:lpstr>
      <vt:lpstr>Times New Roman</vt:lpstr>
      <vt:lpstr>Wingdings</vt:lpstr>
      <vt:lpstr>1_Quarterly earnings presentation</vt:lpstr>
      <vt:lpstr>Quarterly earnings presentation</vt:lpstr>
      <vt:lpstr>SMART TRAFFIC SIGNAL TO OPTIMIZE WITH THE EMERGENCY VECHILE DETECTION</vt:lpstr>
      <vt:lpstr>Outline</vt:lpstr>
      <vt:lpstr>ABSTRACT</vt:lpstr>
      <vt:lpstr>INTRODUCTION</vt:lpstr>
      <vt:lpstr>PowerPoint Presentation</vt:lpstr>
      <vt:lpstr>MOTIVATION</vt:lpstr>
      <vt:lpstr>OBJECTIVE</vt:lpstr>
      <vt:lpstr>EXISTING METHOD </vt:lpstr>
      <vt:lpstr>PROPOSED METHOD</vt:lpstr>
      <vt:lpstr>                                                           BLOCK DIAGRAM</vt:lpstr>
      <vt:lpstr>                            UML DIAGRAM</vt:lpstr>
      <vt:lpstr>                                                                     IMPLEMENTATION</vt:lpstr>
      <vt:lpstr>HARDWARE AND SOFTWARE COMPONENTS</vt:lpstr>
      <vt:lpstr>                                                                                                       i     ADVANTAGES AND APPLICATIONS</vt:lpstr>
      <vt:lpstr>Application &amp; Advantages</vt:lpstr>
      <vt:lpstr>RESULTS AND DISCUSSIONS</vt:lpstr>
      <vt:lpstr>                                               CONCLUSION AND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Slide</dc:title>
  <dc:creator>Deepika Golla</dc:creator>
  <cp:lastModifiedBy>SRAVANTHI GUTHA</cp:lastModifiedBy>
  <cp:revision>15</cp:revision>
  <dcterms:created xsi:type="dcterms:W3CDTF">2025-07-16T09:51:00Z</dcterms:created>
  <dcterms:modified xsi:type="dcterms:W3CDTF">2025-10-13T00:28:03Z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92130760E5514E7FACC8B05F3D67364E_13</vt:lpwstr>
  </property>
  <property fmtid="{D5CDD505-2E9C-101B-9397-08002B2CF9AE}" pid="3" name="KSOProductBuildVer">
    <vt:lpwstr>1033-12.2.0.21931</vt:lpwstr>
  </property>
</Properties>
</file>